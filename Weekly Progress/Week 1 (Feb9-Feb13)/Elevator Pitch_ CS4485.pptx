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IBM Plex Sans"/>
      <p:regular r:id="rId10"/>
      <p:bold r:id="rId11"/>
      <p:italic r:id="rId12"/>
      <p:boldItalic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BMPlexSans-bold.fntdata"/><Relationship Id="rId10" Type="http://schemas.openxmlformats.org/officeDocument/2006/relationships/font" Target="fonts/IBMPlexSans-regular.fntdata"/><Relationship Id="rId13" Type="http://schemas.openxmlformats.org/officeDocument/2006/relationships/font" Target="fonts/IBMPlexSans-boldItalic.fntdata"/><Relationship Id="rId12" Type="http://schemas.openxmlformats.org/officeDocument/2006/relationships/font" Target="fonts/IBMPlex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Abdala: Intro</a:t>
            </a:r>
            <a:endParaRPr/>
          </a:p>
        </p:txBody>
      </p:sp>
      <p:sp>
        <p:nvSpPr>
          <p:cNvPr id="34" name="Google Shape;3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Neon: Team Roles</a:t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Abdala: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Jonathan: Solution</a:t>
            </a:r>
            <a:endParaRPr/>
          </a:p>
        </p:txBody>
      </p:sp>
      <p:sp>
        <p:nvSpPr>
          <p:cNvPr id="55" name="Google Shape;5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Rafid: Tech Stack</a:t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Paola: Project Management Tools</a:t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6280190" y="313813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200"/>
              <a:buFont typeface="IBM Plex Sans"/>
              <a:buNone/>
            </a:pPr>
            <a:r>
              <a:rPr b="0" i="0" lang="en-US" sz="2200" u="none" cap="none" strike="noStrike">
                <a:solidFill>
                  <a:srgbClr val="F3F3F2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7</a:t>
            </a:r>
            <a:endParaRPr b="0" i="0" sz="2200" u="none" cap="none" strike="noStrike"/>
          </a:p>
        </p:txBody>
      </p:sp>
      <p:sp>
        <p:nvSpPr>
          <p:cNvPr id="37" name="Google Shape;37;p8"/>
          <p:cNvSpPr/>
          <p:nvPr/>
        </p:nvSpPr>
        <p:spPr>
          <a:xfrm>
            <a:off x="6280190" y="358318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"/>
              <a:buNone/>
            </a:pPr>
            <a:r>
              <a:rPr b="0" i="0" lang="en-US" sz="4450" u="none" cap="none" strike="noStrike">
                <a:solidFill>
                  <a:srgbClr val="F3F3F2"/>
                </a:solidFill>
                <a:latin typeface="IBM Plex Sans"/>
                <a:ea typeface="IBM Plex Sans"/>
                <a:cs typeface="IBM Plex Sans"/>
                <a:sym typeface="IBM Plex Sans"/>
              </a:rPr>
              <a:t>BiteBuddy</a:t>
            </a:r>
            <a:endParaRPr b="0" i="0" sz="4450" u="none" cap="none" strike="noStrike"/>
          </a:p>
        </p:txBody>
      </p:sp>
      <p:sp>
        <p:nvSpPr>
          <p:cNvPr id="38" name="Google Shape;38;p8"/>
          <p:cNvSpPr/>
          <p:nvPr/>
        </p:nvSpPr>
        <p:spPr>
          <a:xfrm>
            <a:off x="6280190" y="4382691"/>
            <a:ext cx="572369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"/>
              <a:buNone/>
            </a:pPr>
            <a:r>
              <a:rPr b="0" i="0" lang="en-US" sz="3600" u="none" cap="none" strike="noStrike">
                <a:solidFill>
                  <a:srgbClr val="D4D4D1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Where should we eat?</a:t>
            </a:r>
            <a:endParaRPr b="0" i="0" sz="3600" u="none" cap="none" strike="noStrike">
              <a:solidFill>
                <a:srgbClr val="D4D4D1"/>
              </a:solidFill>
            </a:endParaRPr>
          </a:p>
        </p:txBody>
      </p:sp>
      <p:pic>
        <p:nvPicPr>
          <p:cNvPr id="39" name="Google Shape;3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50775" y="6708400"/>
            <a:ext cx="2657475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50" y="945388"/>
            <a:ext cx="5975391" cy="598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793790" y="241673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"/>
              <a:buNone/>
            </a:pPr>
            <a:r>
              <a:rPr b="1" i="0" lang="en-US" sz="4450" u="none" cap="none" strike="noStrike">
                <a:solidFill>
                  <a:srgbClr val="F3F3F2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Roles</a:t>
            </a:r>
            <a:endParaRPr b="1" i="0" sz="4450" u="none" cap="none" strike="noStrike"/>
          </a:p>
        </p:txBody>
      </p:sp>
      <p:sp>
        <p:nvSpPr>
          <p:cNvPr id="47" name="Google Shape;47;p9"/>
          <p:cNvSpPr/>
          <p:nvPr/>
        </p:nvSpPr>
        <p:spPr>
          <a:xfrm>
            <a:off x="793790" y="3692485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3550"/>
              <a:buFont typeface="IBM Plex Sans"/>
              <a:buNone/>
            </a:pPr>
            <a:r>
              <a:rPr i="0" lang="en-US" sz="3550" u="none" cap="none" strike="noStrike">
                <a:solidFill>
                  <a:srgbClr val="F3F3F2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Front-end</a:t>
            </a:r>
            <a:endParaRPr i="0" sz="3550" u="none" cap="none" strike="noStrike"/>
          </a:p>
        </p:txBody>
      </p:sp>
      <p:sp>
        <p:nvSpPr>
          <p:cNvPr id="48" name="Google Shape;48;p9"/>
          <p:cNvSpPr/>
          <p:nvPr/>
        </p:nvSpPr>
        <p:spPr>
          <a:xfrm>
            <a:off x="793790" y="4486275"/>
            <a:ext cx="6244709" cy="1088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50"/>
              <a:buFont typeface="Roboto"/>
              <a:buChar char="•"/>
            </a:pPr>
            <a:r>
              <a:rPr b="0" i="0" lang="en-US" sz="2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Jonathan Lee</a:t>
            </a:r>
            <a:endParaRPr b="0" i="0" sz="2450" u="none" cap="none" strike="noStrike"/>
          </a:p>
          <a:p>
            <a:pPr indent="-38735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50"/>
              <a:buFont typeface="Roboto"/>
              <a:buChar char="•"/>
            </a:pPr>
            <a:r>
              <a:rPr b="0" i="0" lang="en-US" sz="2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Billy Nguyen</a:t>
            </a:r>
            <a:endParaRPr b="0" i="0" sz="2450" u="none" cap="none" strike="noStrike"/>
          </a:p>
          <a:p>
            <a:pPr indent="-38735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50"/>
              <a:buFont typeface="Roboto"/>
              <a:buChar char="•"/>
            </a:pPr>
            <a:r>
              <a:rPr b="0" i="0" lang="en-US" sz="2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Neon Zheng</a:t>
            </a:r>
            <a:endParaRPr b="0" i="0" sz="2450" u="none" cap="none" strike="noStrike"/>
          </a:p>
        </p:txBody>
      </p:sp>
      <p:sp>
        <p:nvSpPr>
          <p:cNvPr id="49" name="Google Shape;49;p9"/>
          <p:cNvSpPr/>
          <p:nvPr/>
        </p:nvSpPr>
        <p:spPr>
          <a:xfrm>
            <a:off x="7599521" y="3692485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3550"/>
              <a:buFont typeface="IBM Plex Sans"/>
              <a:buNone/>
            </a:pPr>
            <a:r>
              <a:rPr i="0" lang="en-US" sz="3550" u="none" cap="none" strike="noStrike">
                <a:solidFill>
                  <a:srgbClr val="F3F3F2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Back-end</a:t>
            </a:r>
            <a:endParaRPr i="0" sz="3550" u="none" cap="none" strike="noStrike"/>
          </a:p>
        </p:txBody>
      </p:sp>
      <p:sp>
        <p:nvSpPr>
          <p:cNvPr id="50" name="Google Shape;50;p9"/>
          <p:cNvSpPr/>
          <p:nvPr/>
        </p:nvSpPr>
        <p:spPr>
          <a:xfrm>
            <a:off x="7599521" y="4486275"/>
            <a:ext cx="6244709" cy="1088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50"/>
              <a:buFont typeface="Roboto"/>
              <a:buChar char="•"/>
            </a:pPr>
            <a:r>
              <a:rPr b="0" i="0" lang="en-US" sz="2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Abdala Aljiewarane</a:t>
            </a:r>
            <a:endParaRPr b="0" i="0" sz="2450" u="none" cap="none" strike="noStrike"/>
          </a:p>
          <a:p>
            <a:pPr indent="-38735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50"/>
              <a:buFont typeface="Roboto"/>
              <a:buChar char="•"/>
            </a:pPr>
            <a:r>
              <a:rPr b="0" i="0" lang="en-US" sz="2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Rafid Nasery</a:t>
            </a:r>
            <a:endParaRPr b="0" i="0" sz="2450" u="none" cap="none" strike="noStrike"/>
          </a:p>
          <a:p>
            <a:pPr indent="-38735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50"/>
              <a:buFont typeface="Roboto"/>
              <a:buChar char="•"/>
            </a:pPr>
            <a:r>
              <a:rPr b="0" i="0" lang="en-US" sz="2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Paola Isabel Reyes-Almendares</a:t>
            </a:r>
            <a:endParaRPr b="0" i="0" sz="2450" u="none" cap="none" strike="noStrike"/>
          </a:p>
        </p:txBody>
      </p:sp>
      <p:pic>
        <p:nvPicPr>
          <p:cNvPr id="51" name="Google Shape;5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5050" y="6708949"/>
            <a:ext cx="26574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0"/>
          <p:cNvSpPr/>
          <p:nvPr/>
        </p:nvSpPr>
        <p:spPr>
          <a:xfrm>
            <a:off x="793790" y="188928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"/>
              <a:buNone/>
            </a:pPr>
            <a:r>
              <a:rPr b="0" i="0" lang="en-US" sz="4450" u="none" cap="none" strike="noStrike">
                <a:solidFill>
                  <a:srgbClr val="F3F3F2"/>
                </a:solidFill>
                <a:latin typeface="IBM Plex Sans"/>
                <a:ea typeface="IBM Plex Sans"/>
                <a:cs typeface="IBM Plex Sans"/>
                <a:sym typeface="IBM Plex Sans"/>
              </a:rPr>
              <a:t>Overview</a:t>
            </a:r>
            <a:endParaRPr b="0" i="0" sz="4450" u="none" cap="none" strike="noStrike"/>
          </a:p>
        </p:txBody>
      </p:sp>
      <p:sp>
        <p:nvSpPr>
          <p:cNvPr id="59" name="Google Shape;59;p10"/>
          <p:cNvSpPr/>
          <p:nvPr/>
        </p:nvSpPr>
        <p:spPr>
          <a:xfrm>
            <a:off x="793790" y="3165038"/>
            <a:ext cx="350150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FBC8F"/>
              </a:buClr>
              <a:buSzPts val="3550"/>
              <a:buFont typeface="IBM Plex Sans"/>
              <a:buNone/>
            </a:pPr>
            <a:r>
              <a:rPr b="0" i="0" lang="en-US" sz="3550" u="none" cap="none" strike="noStrike">
                <a:solidFill>
                  <a:srgbClr val="FFBC8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Problem:</a:t>
            </a:r>
            <a:endParaRPr b="0" i="0" sz="3550" u="none" cap="none" strike="noStrike"/>
          </a:p>
        </p:txBody>
      </p:sp>
      <p:sp>
        <p:nvSpPr>
          <p:cNvPr id="60" name="Google Shape;60;p10"/>
          <p:cNvSpPr/>
          <p:nvPr/>
        </p:nvSpPr>
        <p:spPr>
          <a:xfrm>
            <a:off x="793790" y="3958828"/>
            <a:ext cx="3501509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Friends often struggle to agree on where to eat together: indecisiveness, mismatch preferences and dietary restrictions can over complicate discussions.</a:t>
            </a:r>
            <a:endParaRPr b="0" i="0" sz="1750" u="none" cap="none" strike="noStrike"/>
          </a:p>
        </p:txBody>
      </p:sp>
      <p:sp>
        <p:nvSpPr>
          <p:cNvPr id="61" name="Google Shape;61;p10"/>
          <p:cNvSpPr/>
          <p:nvPr/>
        </p:nvSpPr>
        <p:spPr>
          <a:xfrm>
            <a:off x="4856321" y="3165038"/>
            <a:ext cx="350150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FBC8F"/>
              </a:buClr>
              <a:buSzPts val="3550"/>
              <a:buFont typeface="IBM Plex Sans"/>
              <a:buNone/>
            </a:pPr>
            <a:r>
              <a:rPr b="0" i="0" lang="en-US" sz="3550" u="none" cap="none" strike="noStrike">
                <a:solidFill>
                  <a:srgbClr val="FFBC8F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Solution:</a:t>
            </a:r>
            <a:endParaRPr b="0" i="0" sz="3550" u="none" cap="none" strike="noStrike"/>
          </a:p>
        </p:txBody>
      </p:sp>
      <p:sp>
        <p:nvSpPr>
          <p:cNvPr id="62" name="Google Shape;62;p10"/>
          <p:cNvSpPr/>
          <p:nvPr/>
        </p:nvSpPr>
        <p:spPr>
          <a:xfrm>
            <a:off x="4856321" y="3958828"/>
            <a:ext cx="35015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 swipe-based app that pairs friends, pulls nearby restaurants matching both users' preferences, and finds a match when both swipe right on one.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/>
          <p:nvPr/>
        </p:nvSpPr>
        <p:spPr>
          <a:xfrm>
            <a:off x="793790" y="182618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"/>
              <a:buNone/>
            </a:pPr>
            <a:r>
              <a:rPr b="0" i="0" lang="en-US" sz="4450" u="none" cap="none" strike="noStrike">
                <a:solidFill>
                  <a:srgbClr val="F3F3F2"/>
                </a:solidFill>
                <a:latin typeface="IBM Plex Sans"/>
                <a:ea typeface="IBM Plex Sans"/>
                <a:cs typeface="IBM Plex Sans"/>
                <a:sym typeface="IBM Plex Sans"/>
              </a:rPr>
              <a:t>Tech Stack</a:t>
            </a:r>
            <a:endParaRPr b="0" i="0" sz="4450" u="none" cap="none" strike="noStrike"/>
          </a:p>
        </p:txBody>
      </p:sp>
      <p:sp>
        <p:nvSpPr>
          <p:cNvPr id="69" name="Google Shape;69;p11"/>
          <p:cNvSpPr/>
          <p:nvPr/>
        </p:nvSpPr>
        <p:spPr>
          <a:xfrm>
            <a:off x="793790" y="2988588"/>
            <a:ext cx="6407944" cy="868918"/>
          </a:xfrm>
          <a:prstGeom prst="roundRect">
            <a:avLst>
              <a:gd fmla="val 16837" name="adj"/>
            </a:avLst>
          </a:prstGeom>
          <a:solidFill>
            <a:srgbClr val="292C32"/>
          </a:solidFill>
          <a:ln cap="flat" cmpd="sng" w="30475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1"/>
          <p:cNvSpPr/>
          <p:nvPr/>
        </p:nvSpPr>
        <p:spPr>
          <a:xfrm>
            <a:off x="763310" y="2988588"/>
            <a:ext cx="121920" cy="868918"/>
          </a:xfrm>
          <a:prstGeom prst="roundRect">
            <a:avLst>
              <a:gd fmla="val 27907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1"/>
          <p:cNvSpPr/>
          <p:nvPr/>
        </p:nvSpPr>
        <p:spPr>
          <a:xfrm>
            <a:off x="1142524" y="3245882"/>
            <a:ext cx="297572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"/>
              <a:buNone/>
            </a:pPr>
            <a:r>
              <a:rPr b="0" i="0" lang="en-US" sz="2200" u="none" cap="none" strike="noStrike">
                <a:solidFill>
                  <a:srgbClr val="D4D4D1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Frontend: React Native</a:t>
            </a:r>
            <a:endParaRPr b="0" i="0" sz="2200" u="none" cap="none" strike="noStrike"/>
          </a:p>
        </p:txBody>
      </p:sp>
      <p:sp>
        <p:nvSpPr>
          <p:cNvPr id="72" name="Google Shape;72;p11"/>
          <p:cNvSpPr/>
          <p:nvPr/>
        </p:nvSpPr>
        <p:spPr>
          <a:xfrm>
            <a:off x="7428548" y="2988588"/>
            <a:ext cx="6408063" cy="868918"/>
          </a:xfrm>
          <a:prstGeom prst="roundRect">
            <a:avLst>
              <a:gd fmla="val 16837" name="adj"/>
            </a:avLst>
          </a:prstGeom>
          <a:solidFill>
            <a:srgbClr val="292C32"/>
          </a:solidFill>
          <a:ln cap="flat" cmpd="sng" w="30475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7398067" y="2988588"/>
            <a:ext cx="121920" cy="868918"/>
          </a:xfrm>
          <a:prstGeom prst="roundRect">
            <a:avLst>
              <a:gd fmla="val 27907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7777282" y="324588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"/>
              <a:buNone/>
            </a:pPr>
            <a:r>
              <a:rPr b="0" i="0" lang="en-US" sz="2200" u="none" cap="none" strike="noStrike">
                <a:solidFill>
                  <a:srgbClr val="D4D4D1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Backend: NextJS</a:t>
            </a:r>
            <a:endParaRPr b="0" i="0" sz="2200" u="none" cap="none" strike="noStrike"/>
          </a:p>
        </p:txBody>
      </p:sp>
      <p:sp>
        <p:nvSpPr>
          <p:cNvPr id="75" name="Google Shape;75;p11"/>
          <p:cNvSpPr/>
          <p:nvPr/>
        </p:nvSpPr>
        <p:spPr>
          <a:xfrm>
            <a:off x="793790" y="4084320"/>
            <a:ext cx="6407944" cy="868918"/>
          </a:xfrm>
          <a:prstGeom prst="roundRect">
            <a:avLst>
              <a:gd fmla="val 16837" name="adj"/>
            </a:avLst>
          </a:prstGeom>
          <a:solidFill>
            <a:srgbClr val="292C32"/>
          </a:solidFill>
          <a:ln cap="flat" cmpd="sng" w="30475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"/>
          <p:cNvSpPr/>
          <p:nvPr/>
        </p:nvSpPr>
        <p:spPr>
          <a:xfrm>
            <a:off x="763310" y="4084320"/>
            <a:ext cx="121920" cy="868918"/>
          </a:xfrm>
          <a:prstGeom prst="roundRect">
            <a:avLst>
              <a:gd fmla="val 27907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1142524" y="4341614"/>
            <a:ext cx="556462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"/>
              <a:buNone/>
            </a:pPr>
            <a:r>
              <a:rPr b="0" i="0" lang="en-US" sz="2200" u="none" cap="none" strike="noStrike">
                <a:solidFill>
                  <a:srgbClr val="D4D4D1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Database: Supabase (Postgres + RealTime)</a:t>
            </a:r>
            <a:endParaRPr b="0" i="0" sz="2200" u="none" cap="none" strike="noStrike"/>
          </a:p>
        </p:txBody>
      </p:sp>
      <p:sp>
        <p:nvSpPr>
          <p:cNvPr id="78" name="Google Shape;78;p11"/>
          <p:cNvSpPr/>
          <p:nvPr/>
        </p:nvSpPr>
        <p:spPr>
          <a:xfrm>
            <a:off x="7428548" y="4084320"/>
            <a:ext cx="6408063" cy="868918"/>
          </a:xfrm>
          <a:prstGeom prst="roundRect">
            <a:avLst>
              <a:gd fmla="val 16837" name="adj"/>
            </a:avLst>
          </a:prstGeom>
          <a:solidFill>
            <a:srgbClr val="292C32"/>
          </a:solidFill>
          <a:ln cap="flat" cmpd="sng" w="30475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1"/>
          <p:cNvSpPr/>
          <p:nvPr/>
        </p:nvSpPr>
        <p:spPr>
          <a:xfrm>
            <a:off x="7398067" y="4084320"/>
            <a:ext cx="121920" cy="868918"/>
          </a:xfrm>
          <a:prstGeom prst="roundRect">
            <a:avLst>
              <a:gd fmla="val 27907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7777282" y="43416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"/>
              <a:buNone/>
            </a:pPr>
            <a:r>
              <a:rPr b="0" i="0" lang="en-US" sz="2200" u="none" cap="none" strike="noStrike">
                <a:solidFill>
                  <a:srgbClr val="D4D4D1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Auth: Supabase Auth</a:t>
            </a:r>
            <a:endParaRPr b="0" i="0" sz="2200" u="none" cap="none" strike="noStrike"/>
          </a:p>
        </p:txBody>
      </p:sp>
      <p:sp>
        <p:nvSpPr>
          <p:cNvPr id="81" name="Google Shape;81;p11"/>
          <p:cNvSpPr/>
          <p:nvPr/>
        </p:nvSpPr>
        <p:spPr>
          <a:xfrm>
            <a:off x="793790" y="5180052"/>
            <a:ext cx="6407944" cy="1223248"/>
          </a:xfrm>
          <a:prstGeom prst="roundRect">
            <a:avLst>
              <a:gd fmla="val 11960" name="adj"/>
            </a:avLst>
          </a:prstGeom>
          <a:solidFill>
            <a:srgbClr val="292C32"/>
          </a:solidFill>
          <a:ln cap="flat" cmpd="sng" w="30475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763310" y="5180052"/>
            <a:ext cx="121920" cy="1223248"/>
          </a:xfrm>
          <a:prstGeom prst="roundRect">
            <a:avLst>
              <a:gd fmla="val 27907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/>
          <p:nvPr/>
        </p:nvSpPr>
        <p:spPr>
          <a:xfrm>
            <a:off x="1142524" y="5437346"/>
            <a:ext cx="536221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"/>
              <a:buNone/>
            </a:pPr>
            <a:r>
              <a:rPr b="0" i="0" lang="en-US" sz="2200" u="none" cap="none" strike="noStrike">
                <a:solidFill>
                  <a:srgbClr val="D4D4D1"/>
                </a:solidFill>
                <a:latin typeface="IBM Plex Sans"/>
                <a:ea typeface="IBM Plex Sans"/>
                <a:cs typeface="IBM Plex Sans"/>
                <a:sym typeface="IBM Plex Sans"/>
              </a:rPr>
              <a:t>APIs: Yelp Fusion API (restaurant search)</a:t>
            </a:r>
            <a:endParaRPr b="0" i="0" sz="2200" u="none" cap="none" strike="noStrike"/>
          </a:p>
        </p:txBody>
      </p:sp>
      <p:sp>
        <p:nvSpPr>
          <p:cNvPr id="84" name="Google Shape;84;p11"/>
          <p:cNvSpPr/>
          <p:nvPr/>
        </p:nvSpPr>
        <p:spPr>
          <a:xfrm>
            <a:off x="7428548" y="5180052"/>
            <a:ext cx="6408063" cy="1223248"/>
          </a:xfrm>
          <a:prstGeom prst="roundRect">
            <a:avLst>
              <a:gd fmla="val 11960" name="adj"/>
            </a:avLst>
          </a:prstGeom>
          <a:solidFill>
            <a:srgbClr val="292C32"/>
          </a:solidFill>
          <a:ln cap="flat" cmpd="sng" w="30475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"/>
          <p:cNvSpPr/>
          <p:nvPr/>
        </p:nvSpPr>
        <p:spPr>
          <a:xfrm>
            <a:off x="7398067" y="5180052"/>
            <a:ext cx="121920" cy="1223248"/>
          </a:xfrm>
          <a:prstGeom prst="roundRect">
            <a:avLst>
              <a:gd fmla="val 27907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"/>
          <p:cNvSpPr/>
          <p:nvPr/>
        </p:nvSpPr>
        <p:spPr>
          <a:xfrm>
            <a:off x="7777282" y="5437346"/>
            <a:ext cx="580203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"/>
              <a:buNone/>
            </a:pPr>
            <a:r>
              <a:rPr b="0" i="0" lang="en-US" sz="2200" u="none" cap="none" strike="noStrike">
                <a:solidFill>
                  <a:srgbClr val="D4D4D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Deployment: Vercel (Web+API), Expo EAS (Mobile)</a:t>
            </a:r>
            <a:endParaRPr b="0" i="0" sz="2200" u="none" cap="none" strike="noStrike"/>
          </a:p>
        </p:txBody>
      </p:sp>
      <p:pic>
        <p:nvPicPr>
          <p:cNvPr id="87" name="Google Shape;8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0200" y="6781800"/>
            <a:ext cx="26574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/>
          <p:nvPr/>
        </p:nvSpPr>
        <p:spPr>
          <a:xfrm>
            <a:off x="793790" y="2637830"/>
            <a:ext cx="686050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"/>
              <a:buNone/>
            </a:pPr>
            <a:r>
              <a:rPr b="0" i="0" lang="en-US" sz="4450" u="none" cap="none" strike="noStrike">
                <a:solidFill>
                  <a:srgbClr val="F3F3F2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Management Tools</a:t>
            </a:r>
            <a:endParaRPr b="0" i="0" sz="4450" u="none" cap="none" strike="noStrike"/>
          </a:p>
        </p:txBody>
      </p:sp>
      <p:sp>
        <p:nvSpPr>
          <p:cNvPr id="94" name="Google Shape;94;p12"/>
          <p:cNvSpPr/>
          <p:nvPr/>
        </p:nvSpPr>
        <p:spPr>
          <a:xfrm>
            <a:off x="793790" y="3437334"/>
            <a:ext cx="6850737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3550"/>
              <a:buFont typeface="IBM Plex Sans"/>
              <a:buNone/>
            </a:pPr>
            <a:r>
              <a:rPr b="0" i="0" lang="en-US" sz="3550" u="none" cap="none" strike="noStrike">
                <a:solidFill>
                  <a:srgbClr val="F3F3F2"/>
                </a:solidFill>
                <a:latin typeface="IBM Plex Sans"/>
                <a:ea typeface="IBM Plex Sans"/>
                <a:cs typeface="IBM Plex Sans"/>
                <a:sym typeface="IBM Plex Sans"/>
              </a:rPr>
              <a:t>We'll be using Github Projects to:</a:t>
            </a:r>
            <a:endParaRPr b="0" i="0" sz="3550" u="none" cap="none" strike="noStrike"/>
          </a:p>
        </p:txBody>
      </p:sp>
      <p:sp>
        <p:nvSpPr>
          <p:cNvPr id="95" name="Google Shape;95;p12"/>
          <p:cNvSpPr/>
          <p:nvPr/>
        </p:nvSpPr>
        <p:spPr>
          <a:xfrm>
            <a:off x="793790" y="4344472"/>
            <a:ext cx="7556421" cy="1088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Create decoupled tasks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Assign work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Manage priorities</a:t>
            </a:r>
            <a:endParaRPr b="0" i="0" sz="1750" u="none" cap="none" strike="noStrike"/>
          </a:p>
        </p:txBody>
      </p:sp>
      <p:pic>
        <p:nvPicPr>
          <p:cNvPr id="96" name="Google Shape;96;p12"/>
          <p:cNvPicPr preferRelativeResize="0"/>
          <p:nvPr/>
        </p:nvPicPr>
        <p:blipFill rotWithShape="1">
          <a:blip r:embed="rId3">
            <a:alphaModFix/>
          </a:blip>
          <a:srcRect b="0" l="13683" r="14259" t="0"/>
          <a:stretch/>
        </p:blipFill>
        <p:spPr>
          <a:xfrm>
            <a:off x="8259975" y="1535175"/>
            <a:ext cx="6252548" cy="488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55050" y="6708949"/>
            <a:ext cx="26574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